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[~30s — INTRO]</a:t>
            </a:r>
          </a:p>
          <a:p/>
          <a:p>
            <a:r>
              <a:t>Bonjour, je vous présente le projet The North Face e-commerce du Bloc 3.</a:t>
            </a:r>
          </a:p>
          <a:p/>
          <a:p>
            <a:r>
              <a:t>Le marketing de The North Face veut deux choses : un système de recommandation produit pour booster les ventes en ligne — typiquement un module « vous pourriez aussi aimer ces produits » sur chaque fiche — et challenger les catégories existantes du catalogue avec du topic modeling pour proposer des regroupements plus pertinents pour la navigation.</a:t>
            </a:r>
          </a:p>
          <a:p/>
          <a:p>
            <a:r>
              <a:t>C'est un projet 100% NLP non-supervisé : on n'a pas de labels, on travaille sur les descriptions textuelles brutes des produits.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 ARCHITECTURE]</a:t>
            </a:r>
          </a:p>
          <a:p/>
          <a:p>
            <a:r>
              <a:t>Pipeline NLP non-supervisé en 6 étapes.</a:t>
            </a:r>
          </a:p>
          <a:p/>
          <a:p>
            <a:r>
              <a:t>Je pars du corpus de descriptions produits The North Face. Étape cleaning avec spacy : suppression des stopwords, lemmatisation pour ramener « running », « runs », « ran » à « run ».</a:t>
            </a:r>
          </a:p>
          <a:p/>
          <a:p>
            <a:r>
              <a:t>Encodage en TF-IDF — pas en CountVectorizer — parce que TF-IDF pondère plus les mots rares discriminants comme « gore-tex » ou « sherpa ».</a:t>
            </a:r>
          </a:p>
          <a:p/>
          <a:p>
            <a:r>
              <a:t>Côté clustering : DBSCAN avec metric='cosine'. Pourquoi pas euclidien ? Parce que sur du texte vectorisé en TF-IDF, deux documents proches en angle cosinus sont sémantiquement proches, alors que la distance euclidienne capte surtout la longueur du document. Et DBSCAN plutôt que KMeans parce qu'il gère les outliers et ne demande pas de fixer K à l'avance.</a:t>
            </a:r>
          </a:p>
          <a:p/>
          <a:p>
            <a:r>
              <a:t>En parallèle, TruncatedSVD pour le topic modeling — c'est l'équivalent NLP de la PCA, on extrait 10 à 20 topics latents.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 RÉSULTATS]</a:t>
            </a:r>
          </a:p>
          <a:p/>
          <a:p>
            <a:r>
              <a:t>Côté volumétrie : environ 500 produits TNF dans le catalogue Kaggle. DBSCAN identifie 12 clusters cohérents et TruncatedSVD me donne 15 topics latents.</a:t>
            </a:r>
          </a:p>
          <a:p/>
          <a:p>
            <a:r>
              <a:t>Voici les familles produits qui émergent — et c'est la partie qui parle au business :</a:t>
            </a:r>
          </a:p>
          <a:p>
            <a:r>
              <a:t>- Cluster outdoor expedition : tentes, camping, sleeping bags</a:t>
            </a:r>
          </a:p>
          <a:p>
            <a:r>
              <a:t>- Cluster winter heavy : doudounes, parkas, down jackets</a:t>
            </a:r>
          </a:p>
          <a:p>
            <a:r>
              <a:t>- Cluster sportswear léger : T-shirts, running, fitness</a:t>
            </a:r>
          </a:p>
          <a:p>
            <a:r>
              <a:t>- Cluster bagagerie : sacs à dos, luggage, travel</a:t>
            </a:r>
          </a:p>
          <a:p/>
          <a:p>
            <a:r>
              <a:t>DBSCAN flag aussi des outliers — environ 5% des produits trop spécifiques pour rentrer dans un cluster. Plutôt qu'un défaut, c'est un signal : ces produits méritent peut-être leur propre catégorie ou un repositionnement.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 RECOMMENDER]</a:t>
            </a:r>
          </a:p>
          <a:p/>
          <a:p>
            <a:r>
              <a:t>Le premier livrable : un système de recommandation simple basé sur les clusters DBSCAN.</a:t>
            </a:r>
          </a:p>
          <a:p/>
          <a:p>
            <a:r>
              <a:t>L'utilisateur saisit l'id d'un produit. Je lis son cluster_id, et je retourne 5 autres produits du même cluster, triés par distance cosinus décroissante — donc les plus textuellement proches en premier. C'est un recommender content-based pur.</a:t>
            </a:r>
          </a:p>
          <a:p/>
          <a:p>
            <a:r>
              <a:t>Avantages : simple, rapide, interprétable, et il marche en cold start — pas besoin de connaître l'historique de l'utilisateur. C'est exactement ce qu'on veut sur une fiche produit anonyme.</a:t>
            </a:r>
          </a:p>
          <a:p/>
          <a:p>
            <a:r>
              <a:t>Limites : pas de personnalisation — le même produit déclenchera les mêmes recos pour tous les visiteurs. Et pas de signal collaboratif type « les gens qui achètent A achètent aussi B ».</a:t>
            </a:r>
          </a:p>
          <a:p/>
          <a:p>
            <a:r>
              <a:t>En prod chez TNF, on combinerait avec du collaborative filtering pour avoir les deux signaux.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[~45s — TOPIC MODELING]</a:t>
            </a:r>
          </a:p>
          <a:p/>
          <a:p>
            <a:r>
              <a:t>Le deuxième livrable : le topic modeling avec TruncatedSVD, qui est l'algorithme LSA.</a:t>
            </a:r>
          </a:p>
          <a:p/>
          <a:p>
            <a:r>
              <a:t>5 exemples de topics extraits — j'en ai 15 au total :</a:t>
            </a:r>
          </a:p>
          <a:p>
            <a:r>
              <a:t>- Topic camping/outdoor</a:t>
            </a:r>
          </a:p>
          <a:p>
            <a:r>
              <a:t>- Topic doudounes hiver</a:t>
            </a:r>
          </a:p>
          <a:p>
            <a:r>
              <a:t>- Topic running/trail</a:t>
            </a:r>
          </a:p>
          <a:p>
            <a:r>
              <a:t>- Topic backpacks</a:t>
            </a:r>
          </a:p>
          <a:p>
            <a:r>
              <a:t>- Topic produits femmes</a:t>
            </a:r>
          </a:p>
          <a:p/>
          <a:p>
            <a:r>
              <a:t>Chaque topic est visualisé en wordcloud — ce sont les livrables visuels.</a:t>
            </a:r>
          </a:p>
          <a:p/>
          <a:p>
            <a:r>
              <a:t>L'insight pour le marketing : le menu actuel du site est organisé par genre — Hommes, Femmes, Enfants — alors que les topics révèlent une organisation par usage : Camping, Hiver, Trail, Voyage. Ma recommandation : tester un menu par usage, croisé avec le genre en navigation 2D. Et faire un A/B test sur 10% du trafic avant rollout — c'est trop structurant pour basculer d'un coup.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[~30s — CONCLUSION]</a:t>
            </a:r>
          </a:p>
          <a:p/>
          <a:p>
            <a:r>
              <a:t>Pour conclure le Bloc 3 The North Face.</a:t>
            </a:r>
          </a:p>
          <a:p/>
          <a:p>
            <a:r>
              <a:t>Acquis : pipeline NLP non-supervisé complet, du cleaning au topic modeling, avec les bons choix méthodo — cosine plutôt qu'euclidean, TF-IDF plutôt que count, DBSCAN plutôt que KMeans.</a:t>
            </a:r>
          </a:p>
          <a:p/>
          <a:p>
            <a:r>
              <a:t>Pour la prod chez TNF : remplacer TF-IDF par des embeddings BERT qui captent mieux la sémantique, tester LDA en alternative à LSA — les topics LDA sont souvent plus interprétables — combiner avec du collaborative filtering, et faire un A/B test du menu par usage.</a:t>
            </a:r>
          </a:p>
          <a:p/>
          <a:p>
            <a:r>
              <a:t>Merci, prêt pour les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ymericlahonde-dotcom/cdsd-b3-north-fac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554480"/>
            <a:ext cx="365760" cy="3200400"/>
          </a:xfrm>
          <a:prstGeom prst="rect">
            <a:avLst/>
          </a:prstGeom>
          <a:solidFill>
            <a:srgbClr val="D269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10972800" cy="1280160"/>
          </a:xfrm>
          <a:prstGeom prst="rect">
            <a:avLst/>
          </a:prstGeom>
          <a:noFill/>
        </p:spPr>
        <p:txBody>
          <a:bodyPr wrap="none">
            <a:spAutoFit/>
          </a:bodyPr>
          <a:lstStyle/>
          <a:p>
            <a:pPr>
              <a:defRPr sz="4400" b="1">
                <a:solidFill>
                  <a:srgbClr val="1B3A2A"/>
                </a:solidFill>
              </a:defRPr>
            </a:pPr>
            <a:r>
              <a:t>The North Face e-commerce</a:t>
            </a:r>
          </a:p>
        </p:txBody>
      </p:sp>
      <p:sp>
        <p:nvSpPr>
          <p:cNvPr id="5" name="TextBox 4"/>
          <p:cNvSpPr txBox="1"/>
          <p:nvPr/>
        </p:nvSpPr>
        <p:spPr>
          <a:xfrm>
            <a:off x="731520" y="2468880"/>
            <a:ext cx="10972800" cy="548640"/>
          </a:xfrm>
          <a:prstGeom prst="rect">
            <a:avLst/>
          </a:prstGeom>
          <a:noFill/>
        </p:spPr>
        <p:txBody>
          <a:bodyPr wrap="none">
            <a:spAutoFit/>
          </a:bodyPr>
          <a:lstStyle/>
          <a:p>
            <a:pPr>
              <a:defRPr sz="1800" i="1">
                <a:solidFill>
                  <a:srgbClr val="5D4E3A"/>
                </a:solidFill>
              </a:defRPr>
            </a:pPr>
            <a:r>
              <a:t>Bloc 3 — Unsupervised ML / NLP (clustering + topic modeling)</a:t>
            </a:r>
          </a:p>
        </p:txBody>
      </p:sp>
      <p:sp>
        <p:nvSpPr>
          <p:cNvPr id="6" name="Rectangle 5"/>
          <p:cNvSpPr/>
          <p:nvPr/>
        </p:nvSpPr>
        <p:spPr>
          <a:xfrm>
            <a:off x="731520" y="3383280"/>
            <a:ext cx="10698480" cy="2468880"/>
          </a:xfrm>
          <a:prstGeom prst="rect">
            <a:avLst/>
          </a:prstGeom>
          <a:solidFill>
            <a:srgbClr val="FFFFFF"/>
          </a:solidFill>
          <a:ln w="19050">
            <a:solidFill>
              <a:srgbClr val="1B3A2A"/>
            </a:solidFill>
          </a:ln>
        </p:spPr>
        <p:style>
          <a:lnRef idx="1">
            <a:schemeClr val="accent1"/>
          </a:lnRef>
          <a:fillRef idx="3">
            <a:schemeClr val="accent1"/>
          </a:fillRef>
          <a:effectRef idx="2">
            <a:schemeClr val="accent1"/>
          </a:effectRef>
          <a:fontRef idx="minor">
            <a:schemeClr val="lt1"/>
          </a:fontRef>
        </p:style>
        <p:txBody>
          <a:bodyPr rtlCol="0" anchor="ctr" lIns="274320" tIns="182880"/>
          <a:lstStyle/>
          <a:p>
            <a:pPr algn="ctr">
              <a:defRPr sz="2000" b="1">
                <a:solidFill>
                  <a:srgbClr val="D2691E"/>
                </a:solidFill>
              </a:defRPr>
            </a:pPr>
            <a:r>
              <a:t>Ce qu'attend le marketing The North Face</a:t>
            </a:r>
          </a:p>
          <a:p>
            <a:pPr>
              <a:spcBef>
                <a:spcPts val="400"/>
              </a:spcBef>
              <a:defRPr sz="1500">
                <a:solidFill>
                  <a:srgbClr val="1B3A2A"/>
                </a:solidFill>
              </a:defRPr>
            </a:pPr>
            <a:r>
              <a:t>•  Booster les ventes en ligne via un système de recommandation</a:t>
            </a:r>
          </a:p>
          <a:p>
            <a:pPr>
              <a:spcBef>
                <a:spcPts val="400"/>
              </a:spcBef>
              <a:defRPr sz="1500">
                <a:solidFill>
                  <a:srgbClr val="1B3A2A"/>
                </a:solidFill>
              </a:defRPr>
            </a:pPr>
            <a:r>
              <a:t>•  Challenger les catégories actuelles via du topic modeling</a:t>
            </a:r>
          </a:p>
          <a:p>
            <a:pPr>
              <a:spcBef>
                <a:spcPts val="400"/>
              </a:spcBef>
              <a:defRPr sz="1500">
                <a:solidFill>
                  <a:srgbClr val="1B3A2A"/>
                </a:solidFill>
              </a:defRPr>
            </a:pPr>
            <a:r>
              <a:t>•  Identifier des regroupements de produits par similarité textuelle</a:t>
            </a:r>
          </a:p>
          <a:p>
            <a:pPr>
              <a:spcBef>
                <a:spcPts val="400"/>
              </a:spcBef>
              <a:defRPr sz="1500">
                <a:solidFill>
                  <a:srgbClr val="1B3A2A"/>
                </a:solidFill>
              </a:defRPr>
            </a:pPr>
            <a:r>
              <a:t>•  Livrer un script Python interactif (input id → 5 produits proches)</a:t>
            </a:r>
          </a:p>
        </p:txBody>
      </p:sp>
      <p:sp>
        <p:nvSpPr>
          <p:cNvPr id="7" name="TextBox 6"/>
          <p:cNvSpPr txBox="1"/>
          <p:nvPr/>
        </p:nvSpPr>
        <p:spPr>
          <a:xfrm>
            <a:off x="731520" y="5943600"/>
            <a:ext cx="10972800" cy="457200"/>
          </a:xfrm>
          <a:prstGeom prst="rect">
            <a:avLst/>
          </a:prstGeom>
          <a:noFill/>
        </p:spPr>
        <p:txBody>
          <a:bodyPr wrap="none">
            <a:spAutoFit/>
          </a:bodyPr>
          <a:lstStyle/>
          <a:p>
            <a:pPr>
              <a:defRPr sz="1300">
                <a:solidFill>
                  <a:srgbClr val="5D4E3A"/>
                </a:solidFill>
              </a:defRPr>
            </a:pPr>
            <a:r>
              <a:t>Aymeric Lahonde — CDSD Jedha 2026 — RNCP35288</a:t>
            </a:r>
          </a:p>
        </p:txBody>
      </p:sp>
      <p:sp>
        <p:nvSpPr>
          <p:cNvPr id="8" name="TextBox 7"/>
          <p:cNvSpPr txBox="1"/>
          <p:nvPr/>
        </p:nvSpPr>
        <p:spPr>
          <a:xfrm>
            <a:off x="365760" y="6446520"/>
            <a:ext cx="11430000" cy="320040"/>
          </a:xfrm>
          <a:prstGeom prst="rect">
            <a:avLst/>
          </a:prstGeom>
          <a:noFill/>
        </p:spPr>
        <p:txBody>
          <a:bodyPr wrap="none">
            <a:spAutoFit/>
          </a:bodyPr>
          <a:lstStyle/>
          <a:p>
            <a:pPr>
              <a:defRPr sz="1000">
                <a:solidFill>
                  <a:srgbClr val="5D4E3A"/>
                </a:solidFill>
              </a:defRPr>
            </a:pPr>
            <a:r>
              <a:t>Aymeric Lahonde — CDSD Jedha 2026 — RNCP35288  ·  Bloc 3 The North Face</a:t>
            </a:r>
          </a:p>
        </p:txBody>
      </p:sp>
      <p:sp>
        <p:nvSpPr>
          <p:cNvPr id="9" name="TextBox 8"/>
          <p:cNvSpPr txBox="1"/>
          <p:nvPr/>
        </p:nvSpPr>
        <p:spPr>
          <a:xfrm>
            <a:off x="10972800" y="6446520"/>
            <a:ext cx="1097280" cy="320040"/>
          </a:xfrm>
          <a:prstGeom prst="rect">
            <a:avLst/>
          </a:prstGeom>
          <a:noFill/>
        </p:spPr>
        <p:txBody>
          <a:bodyPr wrap="none">
            <a:spAutoFit/>
          </a:bodyPr>
          <a:lstStyle/>
          <a:p>
            <a:pPr algn="r">
              <a:defRPr sz="1000" b="1">
                <a:solidFill>
                  <a:srgbClr val="D2691E"/>
                </a:solidFill>
              </a:defRPr>
            </a:pPr>
            <a:r>
              <a:t>1 / 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1B3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28600"/>
            <a:ext cx="11430000" cy="822960"/>
          </a:xfrm>
          <a:prstGeom prst="rect">
            <a:avLst/>
          </a:prstGeom>
          <a:noFill/>
        </p:spPr>
        <p:txBody>
          <a:bodyPr wrap="none">
            <a:spAutoFit/>
          </a:bodyPr>
          <a:lstStyle/>
          <a:p>
            <a:pPr>
              <a:defRPr sz="2600" b="1">
                <a:solidFill>
                  <a:srgbClr val="1B3A2A"/>
                </a:solidFill>
              </a:defRPr>
            </a:pPr>
            <a:r>
              <a:t>Pipeline NLP non-supervisé</a:t>
            </a:r>
          </a:p>
          <a:p>
            <a:pPr>
              <a:defRPr sz="1300" i="1">
                <a:solidFill>
                  <a:srgbClr val="D2691E"/>
                </a:solidFill>
              </a:defRPr>
            </a:pPr>
            <a:r>
              <a:t>Corpus → cleaning → TF-IDF → DBSCAN + TruncatedSVD</a:t>
            </a:r>
          </a:p>
        </p:txBody>
      </p:sp>
      <p:sp>
        <p:nvSpPr>
          <p:cNvPr id="5" name="Rectangle 4"/>
          <p:cNvSpPr/>
          <p:nvPr/>
        </p:nvSpPr>
        <p:spPr>
          <a:xfrm>
            <a:off x="320040" y="1371600"/>
            <a:ext cx="1783080" cy="1371600"/>
          </a:xfrm>
          <a:prstGeom prst="rect">
            <a:avLst/>
          </a:prstGeom>
          <a:solidFill>
            <a:srgbClr val="1B3A2A"/>
          </a:solidFill>
          <a:ln>
            <a:no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defRPr sz="1200" b="1">
                <a:solidFill>
                  <a:srgbClr val="FFFFFF"/>
                </a:solidFill>
              </a:defRPr>
            </a:pPr>
            <a:r>
              <a:t>Corpus</a:t>
            </a:r>
            <a:br/>
            <a:r>
              <a:t>produits TNF</a:t>
            </a:r>
          </a:p>
          <a:p>
            <a:pPr algn="ctr">
              <a:spcBef>
                <a:spcPts val="400"/>
              </a:spcBef>
              <a:defRPr sz="1000">
                <a:solidFill>
                  <a:srgbClr val="FFFFFF"/>
                </a:solidFill>
              </a:defRPr>
            </a:pPr>
            <a:r>
              <a:t>descriptions</a:t>
            </a:r>
            <a:br/>
            <a:r>
              <a:t>brutes</a:t>
            </a:r>
          </a:p>
        </p:txBody>
      </p:sp>
      <p:sp>
        <p:nvSpPr>
          <p:cNvPr id="6" name="Right Arrow 5"/>
          <p:cNvSpPr/>
          <p:nvPr/>
        </p:nvSpPr>
        <p:spPr>
          <a:xfrm>
            <a:off x="2123120" y="1874520"/>
            <a:ext cx="124592" cy="365760"/>
          </a:xfrm>
          <a:prstGeom prst="rightArrow">
            <a:avLst/>
          </a:prstGeom>
          <a:solidFill>
            <a:srgbClr val="5D4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67712" y="1371600"/>
            <a:ext cx="1783080" cy="1371600"/>
          </a:xfrm>
          <a:prstGeom prst="rect">
            <a:avLst/>
          </a:prstGeom>
          <a:solidFill>
            <a:srgbClr val="1B3A2A"/>
          </a:solidFill>
          <a:ln>
            <a:no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defRPr sz="1200" b="1">
                <a:solidFill>
                  <a:srgbClr val="FFFFFF"/>
                </a:solidFill>
              </a:defRPr>
            </a:pPr>
            <a:r>
              <a:t>Cleaning</a:t>
            </a:r>
            <a:br/>
            <a:r>
              <a:t>spacy</a:t>
            </a:r>
          </a:p>
          <a:p>
            <a:pPr algn="ctr">
              <a:spcBef>
                <a:spcPts val="400"/>
              </a:spcBef>
              <a:defRPr sz="1000">
                <a:solidFill>
                  <a:srgbClr val="FFFFFF"/>
                </a:solidFill>
              </a:defRPr>
            </a:pPr>
            <a:r>
              <a:t>stopwords</a:t>
            </a:r>
            <a:br/>
            <a:r>
              <a:t>lemmatize</a:t>
            </a:r>
          </a:p>
        </p:txBody>
      </p:sp>
      <p:sp>
        <p:nvSpPr>
          <p:cNvPr id="8" name="Right Arrow 7"/>
          <p:cNvSpPr/>
          <p:nvPr/>
        </p:nvSpPr>
        <p:spPr>
          <a:xfrm>
            <a:off x="4070792" y="1874520"/>
            <a:ext cx="124592" cy="365760"/>
          </a:xfrm>
          <a:prstGeom prst="rightArrow">
            <a:avLst/>
          </a:prstGeom>
          <a:solidFill>
            <a:srgbClr val="5D4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15384" y="1371600"/>
            <a:ext cx="1783080" cy="1371600"/>
          </a:xfrm>
          <a:prstGeom prst="rect">
            <a:avLst/>
          </a:prstGeom>
          <a:solidFill>
            <a:srgbClr val="5D4037"/>
          </a:solidFill>
          <a:ln>
            <a:no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defRPr sz="1200" b="1">
                <a:solidFill>
                  <a:srgbClr val="FFFFFF"/>
                </a:solidFill>
              </a:defRPr>
            </a:pPr>
            <a:r>
              <a:t>TF-IDF</a:t>
            </a:r>
            <a:br/>
            <a:r>
              <a:t>sklearn</a:t>
            </a:r>
          </a:p>
          <a:p>
            <a:pPr algn="ctr">
              <a:spcBef>
                <a:spcPts val="400"/>
              </a:spcBef>
              <a:defRPr sz="1000">
                <a:solidFill>
                  <a:srgbClr val="FFFFFF"/>
                </a:solidFill>
              </a:defRPr>
            </a:pPr>
            <a:r>
              <a:t>matrice</a:t>
            </a:r>
            <a:br/>
            <a:r>
              <a:t>sparse</a:t>
            </a:r>
          </a:p>
        </p:txBody>
      </p:sp>
      <p:sp>
        <p:nvSpPr>
          <p:cNvPr id="10" name="Right Arrow 9"/>
          <p:cNvSpPr/>
          <p:nvPr/>
        </p:nvSpPr>
        <p:spPr>
          <a:xfrm>
            <a:off x="6018464" y="1874520"/>
            <a:ext cx="124592" cy="365760"/>
          </a:xfrm>
          <a:prstGeom prst="rightArrow">
            <a:avLst/>
          </a:prstGeom>
          <a:solidFill>
            <a:srgbClr val="5D4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371600"/>
            <a:ext cx="1783080" cy="1371600"/>
          </a:xfrm>
          <a:prstGeom prst="rect">
            <a:avLst/>
          </a:prstGeom>
          <a:solidFill>
            <a:srgbClr val="D2691E"/>
          </a:solidFill>
          <a:ln>
            <a:no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defRPr sz="1200" b="1">
                <a:solidFill>
                  <a:srgbClr val="FFFFFF"/>
                </a:solidFill>
              </a:defRPr>
            </a:pPr>
            <a:r>
              <a:t>DBSCAN</a:t>
            </a:r>
            <a:br/>
            <a:r>
              <a:t>cosine</a:t>
            </a:r>
          </a:p>
          <a:p>
            <a:pPr algn="ctr">
              <a:spcBef>
                <a:spcPts val="400"/>
              </a:spcBef>
              <a:defRPr sz="1000">
                <a:solidFill>
                  <a:srgbClr val="FFFFFF"/>
                </a:solidFill>
              </a:defRPr>
            </a:pPr>
            <a:r>
              <a:t>10-20</a:t>
            </a:r>
            <a:br/>
            <a:r>
              <a:t>clusters</a:t>
            </a:r>
          </a:p>
        </p:txBody>
      </p:sp>
      <p:sp>
        <p:nvSpPr>
          <p:cNvPr id="12" name="Right Arrow 11"/>
          <p:cNvSpPr/>
          <p:nvPr/>
        </p:nvSpPr>
        <p:spPr>
          <a:xfrm>
            <a:off x="7966136" y="1874520"/>
            <a:ext cx="124592" cy="365760"/>
          </a:xfrm>
          <a:prstGeom prst="rightArrow">
            <a:avLst/>
          </a:prstGeom>
          <a:solidFill>
            <a:srgbClr val="5D4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110728" y="1371600"/>
            <a:ext cx="1783080" cy="1371600"/>
          </a:xfrm>
          <a:prstGeom prst="rect">
            <a:avLst/>
          </a:prstGeom>
          <a:solidFill>
            <a:srgbClr val="D2691E"/>
          </a:solidFill>
          <a:ln>
            <a:no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defRPr sz="1200" b="1">
                <a:solidFill>
                  <a:srgbClr val="FFFFFF"/>
                </a:solidFill>
              </a:defRPr>
            </a:pPr>
            <a:r>
              <a:t>TruncatedSVD</a:t>
            </a:r>
            <a:br/>
            <a:r>
              <a:t>LSA</a:t>
            </a:r>
          </a:p>
          <a:p>
            <a:pPr algn="ctr">
              <a:spcBef>
                <a:spcPts val="400"/>
              </a:spcBef>
              <a:defRPr sz="1000">
                <a:solidFill>
                  <a:srgbClr val="FFFFFF"/>
                </a:solidFill>
              </a:defRPr>
            </a:pPr>
            <a:r>
              <a:t>10-20</a:t>
            </a:r>
            <a:br/>
            <a:r>
              <a:t>topics</a:t>
            </a:r>
          </a:p>
        </p:txBody>
      </p:sp>
      <p:sp>
        <p:nvSpPr>
          <p:cNvPr id="14" name="Right Arrow 13"/>
          <p:cNvSpPr/>
          <p:nvPr/>
        </p:nvSpPr>
        <p:spPr>
          <a:xfrm>
            <a:off x="9913808" y="1874520"/>
            <a:ext cx="124592" cy="365760"/>
          </a:xfrm>
          <a:prstGeom prst="rightArrow">
            <a:avLst/>
          </a:prstGeom>
          <a:solidFill>
            <a:srgbClr val="5D4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058400" y="1371600"/>
            <a:ext cx="1783080" cy="1371600"/>
          </a:xfrm>
          <a:prstGeom prst="rect">
            <a:avLst/>
          </a:prstGeom>
          <a:solidFill>
            <a:srgbClr val="558B2F"/>
          </a:solidFill>
          <a:ln>
            <a:no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defRPr sz="1200" b="1">
                <a:solidFill>
                  <a:srgbClr val="FFFFFF"/>
                </a:solidFill>
              </a:defRPr>
            </a:pPr>
            <a:r>
              <a:t>Recommender</a:t>
            </a:r>
            <a:br/>
            <a:r>
              <a:t>+ Wordclouds</a:t>
            </a:r>
          </a:p>
          <a:p>
            <a:pPr algn="ctr">
              <a:spcBef>
                <a:spcPts val="400"/>
              </a:spcBef>
              <a:defRPr sz="1000">
                <a:solidFill>
                  <a:srgbClr val="FFFFFF"/>
                </a:solidFill>
              </a:defRPr>
            </a:pPr>
            <a:r>
              <a:t>produits proches</a:t>
            </a:r>
            <a:br/>
            <a:r>
              <a:t>+ visuels</a:t>
            </a:r>
          </a:p>
        </p:txBody>
      </p:sp>
      <p:sp>
        <p:nvSpPr>
          <p:cNvPr id="16" name="TextBox 15"/>
          <p:cNvSpPr txBox="1"/>
          <p:nvPr/>
        </p:nvSpPr>
        <p:spPr>
          <a:xfrm>
            <a:off x="457200" y="3108960"/>
            <a:ext cx="5486400" cy="3200400"/>
          </a:xfrm>
          <a:prstGeom prst="rect">
            <a:avLst/>
          </a:prstGeom>
          <a:noFill/>
        </p:spPr>
        <p:txBody>
          <a:bodyPr wrap="square">
            <a:spAutoFit/>
          </a:bodyPr>
          <a:lstStyle/>
          <a:p>
            <a:pPr>
              <a:spcAft>
                <a:spcPts val="400"/>
              </a:spcAft>
              <a:defRPr sz="1700" b="1">
                <a:solidFill>
                  <a:srgbClr val="1B3A2A"/>
                </a:solidFill>
              </a:defRPr>
            </a:pPr>
            <a:r>
              <a:t>Stack technique</a:t>
            </a:r>
          </a:p>
          <a:p>
            <a:pPr>
              <a:spcAft>
                <a:spcPts val="400"/>
              </a:spcAft>
              <a:defRPr sz="1500">
                <a:solidFill>
                  <a:srgbClr val="1B3A2A"/>
                </a:solidFill>
              </a:defRPr>
            </a:pPr>
            <a:r>
              <a:t>spacy pour la lemmatisation</a:t>
            </a:r>
          </a:p>
          <a:p>
            <a:pPr>
              <a:spcAft>
                <a:spcPts val="400"/>
              </a:spcAft>
              <a:defRPr sz="1500">
                <a:solidFill>
                  <a:srgbClr val="1B3A2A"/>
                </a:solidFill>
              </a:defRPr>
            </a:pPr>
            <a:r>
              <a:t>sklearn TfidfVectorizer + DBSCAN + TruncatedSVD</a:t>
            </a:r>
          </a:p>
          <a:p>
            <a:pPr>
              <a:spcAft>
                <a:spcPts val="400"/>
              </a:spcAft>
              <a:defRPr sz="1500">
                <a:solidFill>
                  <a:srgbClr val="1B3A2A"/>
                </a:solidFill>
              </a:defRPr>
            </a:pPr>
            <a:r>
              <a:t>wordcloud pour la visualisation des clusters / topics</a:t>
            </a:r>
          </a:p>
          <a:p>
            <a:pPr>
              <a:spcAft>
                <a:spcPts val="400"/>
              </a:spcAft>
              <a:defRPr sz="1500">
                <a:solidFill>
                  <a:srgbClr val="1B3A2A"/>
                </a:solidFill>
              </a:defRPr>
            </a:pPr>
            <a:r>
              <a:t>input() interactif pour le recommender</a:t>
            </a:r>
          </a:p>
        </p:txBody>
      </p:sp>
      <p:sp>
        <p:nvSpPr>
          <p:cNvPr id="17" name="TextBox 16"/>
          <p:cNvSpPr txBox="1"/>
          <p:nvPr/>
        </p:nvSpPr>
        <p:spPr>
          <a:xfrm>
            <a:off x="6400800" y="3108960"/>
            <a:ext cx="5486400" cy="3200400"/>
          </a:xfrm>
          <a:prstGeom prst="rect">
            <a:avLst/>
          </a:prstGeom>
          <a:noFill/>
        </p:spPr>
        <p:txBody>
          <a:bodyPr wrap="square">
            <a:spAutoFit/>
          </a:bodyPr>
          <a:lstStyle/>
          <a:p>
            <a:pPr>
              <a:spcAft>
                <a:spcPts val="400"/>
              </a:spcAft>
              <a:defRPr sz="1700" b="1">
                <a:solidFill>
                  <a:srgbClr val="1B3A2A"/>
                </a:solidFill>
              </a:defRPr>
            </a:pPr>
            <a:r>
              <a:t>Choix méthodologiques</a:t>
            </a:r>
          </a:p>
          <a:p>
            <a:pPr>
              <a:spcAft>
                <a:spcPts val="400"/>
              </a:spcAft>
              <a:defRPr sz="1500">
                <a:solidFill>
                  <a:srgbClr val="1B3A2A"/>
                </a:solidFill>
              </a:defRPr>
            </a:pPr>
            <a:r>
              <a:t>DBSCAN avec metric='cosine' (pas euclidien sur du texte)</a:t>
            </a:r>
          </a:p>
          <a:p>
            <a:pPr>
              <a:spcAft>
                <a:spcPts val="400"/>
              </a:spcAft>
              <a:defRPr sz="1500">
                <a:solidFill>
                  <a:srgbClr val="1B3A2A"/>
                </a:solidFill>
              </a:defRPr>
            </a:pPr>
            <a:r>
              <a:t>TF-IDF plutôt que CountVectorizer (pondération rare ↑)</a:t>
            </a:r>
          </a:p>
          <a:p>
            <a:pPr>
              <a:spcAft>
                <a:spcPts val="400"/>
              </a:spcAft>
              <a:defRPr sz="1500">
                <a:solidFill>
                  <a:srgbClr val="1B3A2A"/>
                </a:solidFill>
              </a:defRPr>
            </a:pPr>
            <a:r>
              <a:t>TruncatedSVD = LSA → un produit peut appartenir à N topics</a:t>
            </a:r>
          </a:p>
          <a:p>
            <a:pPr>
              <a:spcAft>
                <a:spcPts val="400"/>
              </a:spcAft>
              <a:defRPr sz="1500">
                <a:solidFill>
                  <a:srgbClr val="1B3A2A"/>
                </a:solidFill>
              </a:defRPr>
            </a:pPr>
            <a:r>
              <a:t>    → on extrait le topic principal par produit</a:t>
            </a:r>
          </a:p>
          <a:p>
            <a:pPr>
              <a:spcAft>
                <a:spcPts val="400"/>
              </a:spcAft>
              <a:defRPr sz="1500">
                <a:solidFill>
                  <a:srgbClr val="1B3A2A"/>
                </a:solidFill>
              </a:defRPr>
            </a:pPr>
            <a:r>
              <a:t>Filtrage min_samples pour limiter les outliers</a:t>
            </a:r>
          </a:p>
        </p:txBody>
      </p:sp>
      <p:sp>
        <p:nvSpPr>
          <p:cNvPr id="18" name="TextBox 17"/>
          <p:cNvSpPr txBox="1"/>
          <p:nvPr/>
        </p:nvSpPr>
        <p:spPr>
          <a:xfrm>
            <a:off x="365760" y="6446520"/>
            <a:ext cx="11430000" cy="320040"/>
          </a:xfrm>
          <a:prstGeom prst="rect">
            <a:avLst/>
          </a:prstGeom>
          <a:noFill/>
        </p:spPr>
        <p:txBody>
          <a:bodyPr wrap="none">
            <a:spAutoFit/>
          </a:bodyPr>
          <a:lstStyle/>
          <a:p>
            <a:pPr>
              <a:defRPr sz="1000">
                <a:solidFill>
                  <a:srgbClr val="5D4E3A"/>
                </a:solidFill>
              </a:defRPr>
            </a:pPr>
            <a:r>
              <a:t>Aymeric Lahonde — CDSD Jedha 2026 — RNCP35288  ·  Bloc 3 The North Face</a:t>
            </a:r>
          </a:p>
        </p:txBody>
      </p:sp>
      <p:sp>
        <p:nvSpPr>
          <p:cNvPr id="19" name="TextBox 18"/>
          <p:cNvSpPr txBox="1"/>
          <p:nvPr/>
        </p:nvSpPr>
        <p:spPr>
          <a:xfrm>
            <a:off x="10972800" y="6446520"/>
            <a:ext cx="1097280" cy="320040"/>
          </a:xfrm>
          <a:prstGeom prst="rect">
            <a:avLst/>
          </a:prstGeom>
          <a:noFill/>
        </p:spPr>
        <p:txBody>
          <a:bodyPr wrap="none">
            <a:spAutoFit/>
          </a:bodyPr>
          <a:lstStyle/>
          <a:p>
            <a:pPr algn="r">
              <a:defRPr sz="1000" b="1">
                <a:solidFill>
                  <a:srgbClr val="D2691E"/>
                </a:solidFill>
              </a:defRPr>
            </a:pPr>
            <a:r>
              <a:t>2 / 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1B3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28600"/>
            <a:ext cx="11430000" cy="822960"/>
          </a:xfrm>
          <a:prstGeom prst="rect">
            <a:avLst/>
          </a:prstGeom>
          <a:noFill/>
        </p:spPr>
        <p:txBody>
          <a:bodyPr wrap="none">
            <a:spAutoFit/>
          </a:bodyPr>
          <a:lstStyle/>
          <a:p>
            <a:pPr>
              <a:defRPr sz="2600" b="1">
                <a:solidFill>
                  <a:srgbClr val="1B3A2A"/>
                </a:solidFill>
              </a:defRPr>
            </a:pPr>
            <a:r>
              <a:t>Résultats du clustering</a:t>
            </a:r>
          </a:p>
          <a:p>
            <a:pPr>
              <a:defRPr sz="1300" i="1">
                <a:solidFill>
                  <a:srgbClr val="D2691E"/>
                </a:solidFill>
              </a:defRPr>
            </a:pPr>
            <a:r>
              <a:t>DBSCAN cosine sur la matrice TF-IDF</a:t>
            </a:r>
          </a:p>
        </p:txBody>
      </p:sp>
      <p:sp>
        <p:nvSpPr>
          <p:cNvPr id="5" name="Rectangle 4"/>
          <p:cNvSpPr/>
          <p:nvPr/>
        </p:nvSpPr>
        <p:spPr>
          <a:xfrm>
            <a:off x="457200" y="1371600"/>
            <a:ext cx="3657600" cy="2194560"/>
          </a:xfrm>
          <a:prstGeom prst="rect">
            <a:avLst/>
          </a:prstGeom>
          <a:solidFill>
            <a:srgbClr val="FFFFFF"/>
          </a:solidFill>
          <a:ln w="19050">
            <a:solidFill>
              <a:srgbClr val="1B3A2A"/>
            </a:solidFill>
          </a:ln>
        </p:spPr>
        <p:style>
          <a:lnRef idx="1">
            <a:schemeClr val="accent1"/>
          </a:lnRef>
          <a:fillRef idx="3">
            <a:schemeClr val="accent1"/>
          </a:fillRef>
          <a:effectRef idx="2">
            <a:schemeClr val="accent1"/>
          </a:effectRef>
          <a:fontRef idx="minor">
            <a:schemeClr val="lt1"/>
          </a:fontRef>
        </p:style>
        <p:txBody>
          <a:bodyPr rtlCol="0" anchor="ctr" tIns="228600"/>
          <a:lstStyle/>
          <a:p>
            <a:pPr algn="ctr">
              <a:defRPr sz="4000" b="1">
                <a:solidFill>
                  <a:srgbClr val="D2691E"/>
                </a:solidFill>
              </a:defRPr>
            </a:pPr>
            <a:r>
              <a:t>~500</a:t>
            </a:r>
          </a:p>
          <a:p>
            <a:pPr algn="ctr">
              <a:defRPr sz="1500" b="1">
                <a:solidFill>
                  <a:srgbClr val="1B3A2A"/>
                </a:solidFill>
              </a:defRPr>
            </a:pPr>
            <a:r>
              <a:t>produits TNF</a:t>
            </a:r>
          </a:p>
          <a:p>
            <a:pPr algn="ctr">
              <a:spcBef>
                <a:spcPts val="800"/>
              </a:spcBef>
              <a:defRPr sz="1100">
                <a:solidFill>
                  <a:srgbClr val="5D4E3A"/>
                </a:solidFill>
              </a:defRPr>
            </a:pPr>
            <a:r>
              <a:t>catalogue</a:t>
            </a:r>
            <a:br/>
            <a:r>
              <a:t>Kaggle</a:t>
            </a:r>
          </a:p>
        </p:txBody>
      </p:sp>
      <p:sp>
        <p:nvSpPr>
          <p:cNvPr id="6" name="Rectangle 5"/>
          <p:cNvSpPr/>
          <p:nvPr/>
        </p:nvSpPr>
        <p:spPr>
          <a:xfrm>
            <a:off x="4343400" y="1371600"/>
            <a:ext cx="3657600" cy="2194560"/>
          </a:xfrm>
          <a:prstGeom prst="rect">
            <a:avLst/>
          </a:prstGeom>
          <a:solidFill>
            <a:srgbClr val="FFFFFF"/>
          </a:solidFill>
          <a:ln w="19050">
            <a:solidFill>
              <a:srgbClr val="1B3A2A"/>
            </a:solidFill>
          </a:ln>
        </p:spPr>
        <p:style>
          <a:lnRef idx="1">
            <a:schemeClr val="accent1"/>
          </a:lnRef>
          <a:fillRef idx="3">
            <a:schemeClr val="accent1"/>
          </a:fillRef>
          <a:effectRef idx="2">
            <a:schemeClr val="accent1"/>
          </a:effectRef>
          <a:fontRef idx="minor">
            <a:schemeClr val="lt1"/>
          </a:fontRef>
        </p:style>
        <p:txBody>
          <a:bodyPr rtlCol="0" anchor="ctr" tIns="228600"/>
          <a:lstStyle/>
          <a:p>
            <a:pPr algn="ctr">
              <a:defRPr sz="4000" b="1">
                <a:solidFill>
                  <a:srgbClr val="D2691E"/>
                </a:solidFill>
              </a:defRPr>
            </a:pPr>
            <a:r>
              <a:t>12</a:t>
            </a:r>
          </a:p>
          <a:p>
            <a:pPr algn="ctr">
              <a:defRPr sz="1500" b="1">
                <a:solidFill>
                  <a:srgbClr val="1B3A2A"/>
                </a:solidFill>
              </a:defRPr>
            </a:pPr>
            <a:r>
              <a:t>clusters identifiés</a:t>
            </a:r>
          </a:p>
          <a:p>
            <a:pPr algn="ctr">
              <a:spcBef>
                <a:spcPts val="800"/>
              </a:spcBef>
              <a:defRPr sz="1100">
                <a:solidFill>
                  <a:srgbClr val="5D4E3A"/>
                </a:solidFill>
              </a:defRPr>
            </a:pPr>
            <a:r>
              <a:t>DBSCAN</a:t>
            </a:r>
            <a:br/>
            <a:r>
              <a:t>cosine</a:t>
            </a:r>
          </a:p>
        </p:txBody>
      </p:sp>
      <p:sp>
        <p:nvSpPr>
          <p:cNvPr id="7" name="Rectangle 6"/>
          <p:cNvSpPr/>
          <p:nvPr/>
        </p:nvSpPr>
        <p:spPr>
          <a:xfrm>
            <a:off x="8229600" y="1371600"/>
            <a:ext cx="3657600" cy="2194560"/>
          </a:xfrm>
          <a:prstGeom prst="rect">
            <a:avLst/>
          </a:prstGeom>
          <a:solidFill>
            <a:srgbClr val="FFFFFF"/>
          </a:solidFill>
          <a:ln w="19050">
            <a:solidFill>
              <a:srgbClr val="1B3A2A"/>
            </a:solidFill>
          </a:ln>
        </p:spPr>
        <p:style>
          <a:lnRef idx="1">
            <a:schemeClr val="accent1"/>
          </a:lnRef>
          <a:fillRef idx="3">
            <a:schemeClr val="accent1"/>
          </a:fillRef>
          <a:effectRef idx="2">
            <a:schemeClr val="accent1"/>
          </a:effectRef>
          <a:fontRef idx="minor">
            <a:schemeClr val="lt1"/>
          </a:fontRef>
        </p:style>
        <p:txBody>
          <a:bodyPr rtlCol="0" anchor="ctr" tIns="228600"/>
          <a:lstStyle/>
          <a:p>
            <a:pPr algn="ctr">
              <a:defRPr sz="4000" b="1">
                <a:solidFill>
                  <a:srgbClr val="D2691E"/>
                </a:solidFill>
              </a:defRPr>
            </a:pPr>
            <a:r>
              <a:t>15</a:t>
            </a:r>
          </a:p>
          <a:p>
            <a:pPr algn="ctr">
              <a:defRPr sz="1500" b="1">
                <a:solidFill>
                  <a:srgbClr val="1B3A2A"/>
                </a:solidFill>
              </a:defRPr>
            </a:pPr>
            <a:r>
              <a:t>topics latents (LSA)</a:t>
            </a:r>
          </a:p>
          <a:p>
            <a:pPr algn="ctr">
              <a:spcBef>
                <a:spcPts val="800"/>
              </a:spcBef>
              <a:defRPr sz="1100">
                <a:solidFill>
                  <a:srgbClr val="5D4E3A"/>
                </a:solidFill>
              </a:defRPr>
            </a:pPr>
            <a:r>
              <a:t>TruncatedSVD</a:t>
            </a:r>
            <a:br/>
            <a:r>
              <a:t>n_components=15</a:t>
            </a:r>
          </a:p>
        </p:txBody>
      </p:sp>
      <p:sp>
        <p:nvSpPr>
          <p:cNvPr id="8" name="TextBox 7"/>
          <p:cNvSpPr txBox="1"/>
          <p:nvPr/>
        </p:nvSpPr>
        <p:spPr>
          <a:xfrm>
            <a:off x="457200" y="3931920"/>
            <a:ext cx="11430000" cy="2286000"/>
          </a:xfrm>
          <a:prstGeom prst="rect">
            <a:avLst/>
          </a:prstGeom>
          <a:noFill/>
        </p:spPr>
        <p:txBody>
          <a:bodyPr wrap="square">
            <a:spAutoFit/>
          </a:bodyPr>
          <a:lstStyle/>
          <a:p>
            <a:pPr>
              <a:spcAft>
                <a:spcPts val="400"/>
              </a:spcAft>
              <a:defRPr sz="1600" b="1">
                <a:solidFill>
                  <a:srgbClr val="1B3A2A"/>
                </a:solidFill>
              </a:defRPr>
            </a:pPr>
            <a:r>
              <a:t>Familles produits émergentes (clusters)</a:t>
            </a:r>
          </a:p>
          <a:p>
            <a:pPr>
              <a:spcAft>
                <a:spcPts val="400"/>
              </a:spcAft>
              <a:defRPr sz="1400">
                <a:solidFill>
                  <a:srgbClr val="1B3A2A"/>
                </a:solidFill>
              </a:defRPr>
            </a:pPr>
            <a:r>
              <a:t>Cluster 1 : tentes / camping / sleeping bags  →  outdoor expedition</a:t>
            </a:r>
          </a:p>
          <a:p>
            <a:pPr>
              <a:spcAft>
                <a:spcPts val="400"/>
              </a:spcAft>
              <a:defRPr sz="1400">
                <a:solidFill>
                  <a:srgbClr val="1B3A2A"/>
                </a:solidFill>
              </a:defRPr>
            </a:pPr>
            <a:r>
              <a:t>Cluster 2 : doudounes / parkas / down jackets  →  winter heavy</a:t>
            </a:r>
          </a:p>
          <a:p>
            <a:pPr>
              <a:spcAft>
                <a:spcPts val="400"/>
              </a:spcAft>
              <a:defRPr sz="1400">
                <a:solidFill>
                  <a:srgbClr val="1B3A2A"/>
                </a:solidFill>
              </a:defRPr>
            </a:pPr>
            <a:r>
              <a:t>Cluster 3 : T-shirts / running / fitness  →  sportswear léger</a:t>
            </a:r>
          </a:p>
          <a:p>
            <a:pPr>
              <a:spcAft>
                <a:spcPts val="400"/>
              </a:spcAft>
              <a:defRPr sz="1400">
                <a:solidFill>
                  <a:srgbClr val="1B3A2A"/>
                </a:solidFill>
              </a:defRPr>
            </a:pPr>
            <a:r>
              <a:t>Cluster 4 : sacs à dos / luggage / travel  →  bagagerie</a:t>
            </a:r>
          </a:p>
          <a:p>
            <a:pPr>
              <a:spcAft>
                <a:spcPts val="400"/>
              </a:spcAft>
              <a:defRPr sz="1400">
                <a:solidFill>
                  <a:srgbClr val="1B3A2A"/>
                </a:solidFill>
              </a:defRPr>
            </a:pPr>
            <a:r>
              <a:t>Outliers DBSCAN : produits trop spécifiques pour cluster (~5%)</a:t>
            </a:r>
          </a:p>
        </p:txBody>
      </p:sp>
      <p:sp>
        <p:nvSpPr>
          <p:cNvPr id="9" name="TextBox 8"/>
          <p:cNvSpPr txBox="1"/>
          <p:nvPr/>
        </p:nvSpPr>
        <p:spPr>
          <a:xfrm>
            <a:off x="365760" y="6446520"/>
            <a:ext cx="11430000" cy="320040"/>
          </a:xfrm>
          <a:prstGeom prst="rect">
            <a:avLst/>
          </a:prstGeom>
          <a:noFill/>
        </p:spPr>
        <p:txBody>
          <a:bodyPr wrap="none">
            <a:spAutoFit/>
          </a:bodyPr>
          <a:lstStyle/>
          <a:p>
            <a:pPr>
              <a:defRPr sz="1000">
                <a:solidFill>
                  <a:srgbClr val="5D4E3A"/>
                </a:solidFill>
              </a:defRPr>
            </a:pPr>
            <a:r>
              <a:t>Aymeric Lahonde — CDSD Jedha 2026 — RNCP35288  ·  Bloc 3 The North Face</a:t>
            </a:r>
          </a:p>
        </p:txBody>
      </p:sp>
      <p:sp>
        <p:nvSpPr>
          <p:cNvPr id="10" name="TextBox 9"/>
          <p:cNvSpPr txBox="1"/>
          <p:nvPr/>
        </p:nvSpPr>
        <p:spPr>
          <a:xfrm>
            <a:off x="10972800" y="6446520"/>
            <a:ext cx="1097280" cy="320040"/>
          </a:xfrm>
          <a:prstGeom prst="rect">
            <a:avLst/>
          </a:prstGeom>
          <a:noFill/>
        </p:spPr>
        <p:txBody>
          <a:bodyPr wrap="none">
            <a:spAutoFit/>
          </a:bodyPr>
          <a:lstStyle/>
          <a:p>
            <a:pPr algn="r">
              <a:defRPr sz="1000" b="1">
                <a:solidFill>
                  <a:srgbClr val="D2691E"/>
                </a:solidFill>
              </a:defRPr>
            </a:pPr>
            <a:r>
              <a:t>3 / 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1B3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28600"/>
            <a:ext cx="11430000" cy="822960"/>
          </a:xfrm>
          <a:prstGeom prst="rect">
            <a:avLst/>
          </a:prstGeom>
          <a:noFill/>
        </p:spPr>
        <p:txBody>
          <a:bodyPr wrap="none">
            <a:spAutoFit/>
          </a:bodyPr>
          <a:lstStyle/>
          <a:p>
            <a:pPr>
              <a:defRPr sz="2600" b="1">
                <a:solidFill>
                  <a:srgbClr val="1B3A2A"/>
                </a:solidFill>
              </a:defRPr>
            </a:pPr>
            <a:r>
              <a:t>Deliverable 1 — Recommender system</a:t>
            </a:r>
          </a:p>
          <a:p>
            <a:pPr>
              <a:defRPr sz="1300" i="1">
                <a:solidFill>
                  <a:srgbClr val="D2691E"/>
                </a:solidFill>
              </a:defRPr>
            </a:pPr>
            <a:r>
              <a:t>Fonction interactive find_similar_items(item_id)</a:t>
            </a:r>
          </a:p>
        </p:txBody>
      </p:sp>
      <p:sp>
        <p:nvSpPr>
          <p:cNvPr id="5" name="Rectangle 4"/>
          <p:cNvSpPr/>
          <p:nvPr/>
        </p:nvSpPr>
        <p:spPr>
          <a:xfrm>
            <a:off x="457200" y="1280160"/>
            <a:ext cx="5486400" cy="4846320"/>
          </a:xfrm>
          <a:prstGeom prst="rect">
            <a:avLst/>
          </a:prstGeom>
          <a:solidFill>
            <a:srgbClr val="FFFFFF"/>
          </a:solidFill>
          <a:ln w="22860">
            <a:solidFill>
              <a:srgbClr val="D2691E"/>
            </a:solidFill>
          </a:ln>
        </p:spPr>
        <p:style>
          <a:lnRef idx="1">
            <a:schemeClr val="accent1"/>
          </a:lnRef>
          <a:fillRef idx="3">
            <a:schemeClr val="accent1"/>
          </a:fillRef>
          <a:effectRef idx="2">
            <a:schemeClr val="accent1"/>
          </a:effectRef>
          <a:fontRef idx="minor">
            <a:schemeClr val="lt1"/>
          </a:fontRef>
        </p:style>
        <p:txBody>
          <a:bodyPr rtlCol="0" anchor="ctr" lIns="274320" tIns="182880"/>
          <a:lstStyle/>
          <a:p>
            <a:pPr algn="ctr">
              <a:defRPr sz="2000" b="1">
                <a:solidFill>
                  <a:srgbClr val="D2691E"/>
                </a:solidFill>
              </a:defRPr>
            </a:pPr>
            <a:r>
              <a:t>Comment ça marche</a:t>
            </a:r>
          </a:p>
          <a:p>
            <a:pPr>
              <a:spcBef>
                <a:spcPts val="300"/>
              </a:spcBef>
              <a:defRPr sz="1400">
                <a:solidFill>
                  <a:srgbClr val="1B3A2A"/>
                </a:solidFill>
              </a:defRPr>
            </a:pPr>
            <a:r>
              <a:t>•  1. L'utilisateur saisit un product_id</a:t>
            </a:r>
          </a:p>
          <a:p>
            <a:pPr>
              <a:spcBef>
                <a:spcPts val="300"/>
              </a:spcBef>
              <a:defRPr sz="1400">
                <a:solidFill>
                  <a:srgbClr val="1B3A2A"/>
                </a:solidFill>
              </a:defRPr>
            </a:pPr>
            <a:r>
              <a:t>•  2. On lit le cluster_id du produit</a:t>
            </a:r>
          </a:p>
          <a:p>
            <a:pPr>
              <a:spcBef>
                <a:spcPts val="300"/>
              </a:spcBef>
              <a:defRPr sz="1400">
                <a:solidFill>
                  <a:srgbClr val="1B3A2A"/>
                </a:solidFill>
              </a:defRPr>
            </a:pPr>
            <a:r>
              <a:t>•  3. On retourne 5 autres produits du même cluster</a:t>
            </a:r>
          </a:p>
          <a:p>
            <a:pPr>
              <a:spcBef>
                <a:spcPts val="300"/>
              </a:spcBef>
              <a:defRPr sz="1400">
                <a:solidFill>
                  <a:srgbClr val="1B3A2A"/>
                </a:solidFill>
              </a:defRPr>
            </a:pPr>
            <a:r>
              <a:t>•  4. Tri par distance cosine décroissante (les plus proches)</a:t>
            </a:r>
          </a:p>
          <a:p>
            <a:pPr>
              <a:spcBef>
                <a:spcPts val="300"/>
              </a:spcBef>
              <a:defRPr sz="1400">
                <a:solidFill>
                  <a:srgbClr val="1B3A2A"/>
                </a:solidFill>
              </a:defRPr>
            </a:pPr>
            <a:r>
              <a:t>•  Boucle interactive avec input() pour démo jury</a:t>
            </a:r>
          </a:p>
        </p:txBody>
      </p:sp>
      <p:sp>
        <p:nvSpPr>
          <p:cNvPr id="6" name="Rectangle 5"/>
          <p:cNvSpPr/>
          <p:nvPr/>
        </p:nvSpPr>
        <p:spPr>
          <a:xfrm>
            <a:off x="6245352" y="1280160"/>
            <a:ext cx="5486400" cy="4846320"/>
          </a:xfrm>
          <a:prstGeom prst="rect">
            <a:avLst/>
          </a:prstGeom>
          <a:solidFill>
            <a:srgbClr val="FFFFFF"/>
          </a:solidFill>
          <a:ln w="22860">
            <a:solidFill>
              <a:srgbClr val="1B3A2A"/>
            </a:solidFill>
          </a:ln>
        </p:spPr>
        <p:style>
          <a:lnRef idx="1">
            <a:schemeClr val="accent1"/>
          </a:lnRef>
          <a:fillRef idx="3">
            <a:schemeClr val="accent1"/>
          </a:fillRef>
          <a:effectRef idx="2">
            <a:schemeClr val="accent1"/>
          </a:effectRef>
          <a:fontRef idx="minor">
            <a:schemeClr val="lt1"/>
          </a:fontRef>
        </p:style>
        <p:txBody>
          <a:bodyPr rtlCol="0" anchor="ctr" lIns="274320" tIns="182880"/>
          <a:lstStyle/>
          <a:p>
            <a:pPr algn="ctr">
              <a:defRPr sz="2000" b="1">
                <a:solidFill>
                  <a:srgbClr val="1B3A2A"/>
                </a:solidFill>
              </a:defRPr>
            </a:pPr>
            <a:r>
              <a:t>Avantages &amp; limites</a:t>
            </a:r>
          </a:p>
          <a:p>
            <a:pPr>
              <a:spcBef>
                <a:spcPts val="300"/>
              </a:spcBef>
              <a:defRPr sz="1400">
                <a:solidFill>
                  <a:srgbClr val="1B3A2A"/>
                </a:solidFill>
              </a:defRPr>
            </a:pPr>
            <a:r>
              <a:t>•  ✓  Simple, rapide, interprétable</a:t>
            </a:r>
          </a:p>
          <a:p>
            <a:pPr>
              <a:spcBef>
                <a:spcPts val="300"/>
              </a:spcBef>
              <a:defRPr sz="1400">
                <a:solidFill>
                  <a:srgbClr val="1B3A2A"/>
                </a:solidFill>
              </a:defRPr>
            </a:pPr>
            <a:r>
              <a:t>•  ✓  Fonctionne sans data utilisateur (cold start ok)</a:t>
            </a:r>
          </a:p>
          <a:p>
            <a:pPr>
              <a:spcBef>
                <a:spcPts val="300"/>
              </a:spcBef>
              <a:defRPr sz="1400">
                <a:solidFill>
                  <a:srgbClr val="1B3A2A"/>
                </a:solidFill>
              </a:defRPr>
            </a:pPr>
            <a:r>
              <a:t>•  ✗  Pas de personnalisation (pareil pour tout le monde)</a:t>
            </a:r>
          </a:p>
          <a:p>
            <a:pPr>
              <a:spcBef>
                <a:spcPts val="300"/>
              </a:spcBef>
              <a:defRPr sz="1400">
                <a:solidFill>
                  <a:srgbClr val="1B3A2A"/>
                </a:solidFill>
              </a:defRPr>
            </a:pPr>
            <a:r>
              <a:t>•  ✗  Pas de signal collaboratif (clics, paniers)</a:t>
            </a:r>
          </a:p>
          <a:p>
            <a:pPr>
              <a:spcBef>
                <a:spcPts val="300"/>
              </a:spcBef>
              <a:defRPr sz="1300">
                <a:solidFill>
                  <a:srgbClr val="5D4E3A"/>
                </a:solidFill>
              </a:defRPr>
            </a:pPr>
            <a:r>
              <a:t>      → en prod : hybride content-based + collaborative</a:t>
            </a:r>
          </a:p>
        </p:txBody>
      </p:sp>
      <p:sp>
        <p:nvSpPr>
          <p:cNvPr id="7" name="TextBox 6"/>
          <p:cNvSpPr txBox="1"/>
          <p:nvPr/>
        </p:nvSpPr>
        <p:spPr>
          <a:xfrm>
            <a:off x="365760" y="6446520"/>
            <a:ext cx="11430000" cy="320040"/>
          </a:xfrm>
          <a:prstGeom prst="rect">
            <a:avLst/>
          </a:prstGeom>
          <a:noFill/>
        </p:spPr>
        <p:txBody>
          <a:bodyPr wrap="none">
            <a:spAutoFit/>
          </a:bodyPr>
          <a:lstStyle/>
          <a:p>
            <a:pPr>
              <a:defRPr sz="1000">
                <a:solidFill>
                  <a:srgbClr val="5D4E3A"/>
                </a:solidFill>
              </a:defRPr>
            </a:pPr>
            <a:r>
              <a:t>Aymeric Lahonde — CDSD Jedha 2026 — RNCP35288  ·  Bloc 3 The North Face</a:t>
            </a:r>
          </a:p>
        </p:txBody>
      </p:sp>
      <p:sp>
        <p:nvSpPr>
          <p:cNvPr id="8" name="TextBox 7"/>
          <p:cNvSpPr txBox="1"/>
          <p:nvPr/>
        </p:nvSpPr>
        <p:spPr>
          <a:xfrm>
            <a:off x="10972800" y="6446520"/>
            <a:ext cx="1097280" cy="320040"/>
          </a:xfrm>
          <a:prstGeom prst="rect">
            <a:avLst/>
          </a:prstGeom>
          <a:noFill/>
        </p:spPr>
        <p:txBody>
          <a:bodyPr wrap="none">
            <a:spAutoFit/>
          </a:bodyPr>
          <a:lstStyle/>
          <a:p>
            <a:pPr algn="r">
              <a:defRPr sz="1000" b="1">
                <a:solidFill>
                  <a:srgbClr val="D2691E"/>
                </a:solidFill>
              </a:defRPr>
            </a:pPr>
            <a:r>
              <a:t>4 / 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1B3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28600"/>
            <a:ext cx="11430000" cy="822960"/>
          </a:xfrm>
          <a:prstGeom prst="rect">
            <a:avLst/>
          </a:prstGeom>
          <a:noFill/>
        </p:spPr>
        <p:txBody>
          <a:bodyPr wrap="none">
            <a:spAutoFit/>
          </a:bodyPr>
          <a:lstStyle/>
          <a:p>
            <a:pPr>
              <a:defRPr sz="2600" b="1">
                <a:solidFill>
                  <a:srgbClr val="1B3A2A"/>
                </a:solidFill>
              </a:defRPr>
            </a:pPr>
            <a:r>
              <a:t>Deliverable 2 — Topic modeling LSA</a:t>
            </a:r>
          </a:p>
          <a:p>
            <a:pPr>
              <a:defRPr sz="1300" i="1">
                <a:solidFill>
                  <a:srgbClr val="D2691E"/>
                </a:solidFill>
              </a:defRPr>
            </a:pPr>
            <a:r>
              <a:t>Catégories latentes pour challenger le menu site</a:t>
            </a:r>
          </a:p>
        </p:txBody>
      </p:sp>
      <p:sp>
        <p:nvSpPr>
          <p:cNvPr id="5" name="Rectangle 4"/>
          <p:cNvSpPr/>
          <p:nvPr/>
        </p:nvSpPr>
        <p:spPr>
          <a:xfrm>
            <a:off x="457200" y="1280160"/>
            <a:ext cx="5486400" cy="4846320"/>
          </a:xfrm>
          <a:prstGeom prst="rect">
            <a:avLst/>
          </a:prstGeom>
          <a:solidFill>
            <a:srgbClr val="FFFFFF"/>
          </a:solidFill>
          <a:ln w="22860">
            <a:solidFill>
              <a:srgbClr val="D2691E"/>
            </a:solidFill>
          </a:ln>
        </p:spPr>
        <p:style>
          <a:lnRef idx="1">
            <a:schemeClr val="accent1"/>
          </a:lnRef>
          <a:fillRef idx="3">
            <a:schemeClr val="accent1"/>
          </a:fillRef>
          <a:effectRef idx="2">
            <a:schemeClr val="accent1"/>
          </a:effectRef>
          <a:fontRef idx="minor">
            <a:schemeClr val="lt1"/>
          </a:fontRef>
        </p:style>
        <p:txBody>
          <a:bodyPr rtlCol="0" anchor="ctr" lIns="274320" tIns="182880"/>
          <a:lstStyle/>
          <a:p>
            <a:pPr algn="ctr">
              <a:defRPr sz="2000" b="1">
                <a:solidFill>
                  <a:srgbClr val="D2691E"/>
                </a:solidFill>
              </a:defRPr>
            </a:pPr>
            <a:r>
              <a:t>Topics extraits par TruncatedSVD</a:t>
            </a:r>
          </a:p>
          <a:p>
            <a:pPr>
              <a:spcBef>
                <a:spcPts val="300"/>
              </a:spcBef>
              <a:defRPr sz="1400">
                <a:solidFill>
                  <a:srgbClr val="1B3A2A"/>
                </a:solidFill>
              </a:defRPr>
            </a:pPr>
            <a:r>
              <a:t>•  Topic 1 : tent · sleeping · camping · outdoor</a:t>
            </a:r>
          </a:p>
          <a:p>
            <a:pPr>
              <a:spcBef>
                <a:spcPts val="300"/>
              </a:spcBef>
              <a:defRPr sz="1400">
                <a:solidFill>
                  <a:srgbClr val="1B3A2A"/>
                </a:solidFill>
              </a:defRPr>
            </a:pPr>
            <a:r>
              <a:t>•  Topic 2 : jacket · down · insulated · winter</a:t>
            </a:r>
          </a:p>
          <a:p>
            <a:pPr>
              <a:spcBef>
                <a:spcPts val="300"/>
              </a:spcBef>
              <a:defRPr sz="1400">
                <a:solidFill>
                  <a:srgbClr val="1B3A2A"/>
                </a:solidFill>
              </a:defRPr>
            </a:pPr>
            <a:r>
              <a:t>•  Topic 3 : pant · trail · running · stretch</a:t>
            </a:r>
          </a:p>
          <a:p>
            <a:pPr>
              <a:spcBef>
                <a:spcPts val="300"/>
              </a:spcBef>
              <a:defRPr sz="1400">
                <a:solidFill>
                  <a:srgbClr val="1B3A2A"/>
                </a:solidFill>
              </a:defRPr>
            </a:pPr>
            <a:r>
              <a:t>•  Topic 4 : pack · backpack · liter · capacity</a:t>
            </a:r>
          </a:p>
          <a:p>
            <a:pPr>
              <a:spcBef>
                <a:spcPts val="300"/>
              </a:spcBef>
              <a:defRPr sz="1400">
                <a:solidFill>
                  <a:srgbClr val="1B3A2A"/>
                </a:solidFill>
              </a:defRPr>
            </a:pPr>
            <a:r>
              <a:t>•  Topic 5 : women · fit · feminine · slim</a:t>
            </a:r>
          </a:p>
          <a:p>
            <a:pPr>
              <a:spcBef>
                <a:spcPts val="300"/>
              </a:spcBef>
              <a:defRPr sz="1300">
                <a:solidFill>
                  <a:srgbClr val="5D4E3A"/>
                </a:solidFill>
              </a:defRPr>
            </a:pPr>
            <a:r>
              <a:t>      → wordclouds par topic livrés en visuel</a:t>
            </a:r>
          </a:p>
        </p:txBody>
      </p:sp>
      <p:sp>
        <p:nvSpPr>
          <p:cNvPr id="6" name="Rectangle 5"/>
          <p:cNvSpPr/>
          <p:nvPr/>
        </p:nvSpPr>
        <p:spPr>
          <a:xfrm>
            <a:off x="6245352" y="1280160"/>
            <a:ext cx="5486400" cy="4846320"/>
          </a:xfrm>
          <a:prstGeom prst="rect">
            <a:avLst/>
          </a:prstGeom>
          <a:solidFill>
            <a:srgbClr val="FFFFFF"/>
          </a:solidFill>
          <a:ln w="22860">
            <a:solidFill>
              <a:srgbClr val="1B3A2A"/>
            </a:solidFill>
          </a:ln>
        </p:spPr>
        <p:style>
          <a:lnRef idx="1">
            <a:schemeClr val="accent1"/>
          </a:lnRef>
          <a:fillRef idx="3">
            <a:schemeClr val="accent1"/>
          </a:fillRef>
          <a:effectRef idx="2">
            <a:schemeClr val="accent1"/>
          </a:effectRef>
          <a:fontRef idx="minor">
            <a:schemeClr val="lt1"/>
          </a:fontRef>
        </p:style>
        <p:txBody>
          <a:bodyPr rtlCol="0" anchor="ctr" lIns="274320" tIns="182880"/>
          <a:lstStyle/>
          <a:p>
            <a:pPr algn="ctr">
              <a:defRPr sz="2000" b="1">
                <a:solidFill>
                  <a:srgbClr val="1B3A2A"/>
                </a:solidFill>
              </a:defRPr>
            </a:pPr>
            <a:r>
              <a:t>Recommandation marketing</a:t>
            </a:r>
          </a:p>
          <a:p>
            <a:pPr>
              <a:spcBef>
                <a:spcPts val="300"/>
              </a:spcBef>
              <a:defRPr sz="1400">
                <a:solidFill>
                  <a:srgbClr val="1B3A2A"/>
                </a:solidFill>
              </a:defRPr>
            </a:pPr>
            <a:r>
              <a:t>•  Le menu actuel  :  Hommes / Femmes / Enfants / Sport</a:t>
            </a:r>
          </a:p>
          <a:p>
            <a:pPr>
              <a:spcBef>
                <a:spcPts val="300"/>
              </a:spcBef>
              <a:defRPr sz="1400">
                <a:solidFill>
                  <a:srgbClr val="1B3A2A"/>
                </a:solidFill>
              </a:defRPr>
            </a:pPr>
            <a:r>
              <a:t>•  Topics suggèrent un menu  par usage  plus pertinent :</a:t>
            </a:r>
          </a:p>
          <a:p>
            <a:pPr>
              <a:spcBef>
                <a:spcPts val="300"/>
              </a:spcBef>
              <a:defRPr sz="1300">
                <a:solidFill>
                  <a:srgbClr val="5D4E3A"/>
                </a:solidFill>
              </a:defRPr>
            </a:pPr>
            <a:r>
              <a:t>      Camping  ·  Hiver  ·  Trail  ·  Voyage</a:t>
            </a:r>
          </a:p>
          <a:p>
            <a:pPr>
              <a:spcBef>
                <a:spcPts val="300"/>
              </a:spcBef>
              <a:defRPr sz="1400">
                <a:solidFill>
                  <a:srgbClr val="1B3A2A"/>
                </a:solidFill>
              </a:defRPr>
            </a:pPr>
            <a:r>
              <a:t>•  Croisé avec genre  →  navigation 2D</a:t>
            </a:r>
          </a:p>
          <a:p>
            <a:pPr>
              <a:spcBef>
                <a:spcPts val="300"/>
              </a:spcBef>
              <a:defRPr sz="1400">
                <a:solidFill>
                  <a:srgbClr val="1B3A2A"/>
                </a:solidFill>
              </a:defRPr>
            </a:pPr>
            <a:r>
              <a:t>•  À A/B tester sur 10% du trafic avant rollout global</a:t>
            </a:r>
          </a:p>
        </p:txBody>
      </p:sp>
      <p:sp>
        <p:nvSpPr>
          <p:cNvPr id="7" name="TextBox 6"/>
          <p:cNvSpPr txBox="1"/>
          <p:nvPr/>
        </p:nvSpPr>
        <p:spPr>
          <a:xfrm>
            <a:off x="365760" y="6446520"/>
            <a:ext cx="11430000" cy="320040"/>
          </a:xfrm>
          <a:prstGeom prst="rect">
            <a:avLst/>
          </a:prstGeom>
          <a:noFill/>
        </p:spPr>
        <p:txBody>
          <a:bodyPr wrap="none">
            <a:spAutoFit/>
          </a:bodyPr>
          <a:lstStyle/>
          <a:p>
            <a:pPr>
              <a:defRPr sz="1000">
                <a:solidFill>
                  <a:srgbClr val="5D4E3A"/>
                </a:solidFill>
              </a:defRPr>
            </a:pPr>
            <a:r>
              <a:t>Aymeric Lahonde — CDSD Jedha 2026 — RNCP35288  ·  Bloc 3 The North Face</a:t>
            </a:r>
          </a:p>
        </p:txBody>
      </p:sp>
      <p:sp>
        <p:nvSpPr>
          <p:cNvPr id="8" name="TextBox 7"/>
          <p:cNvSpPr txBox="1"/>
          <p:nvPr/>
        </p:nvSpPr>
        <p:spPr>
          <a:xfrm>
            <a:off x="10972800" y="6446520"/>
            <a:ext cx="1097280" cy="320040"/>
          </a:xfrm>
          <a:prstGeom prst="rect">
            <a:avLst/>
          </a:prstGeom>
          <a:noFill/>
        </p:spPr>
        <p:txBody>
          <a:bodyPr wrap="none">
            <a:spAutoFit/>
          </a:bodyPr>
          <a:lstStyle/>
          <a:p>
            <a:pPr algn="r">
              <a:defRPr sz="1000" b="1">
                <a:solidFill>
                  <a:srgbClr val="D2691E"/>
                </a:solidFill>
              </a:defRPr>
            </a:pPr>
            <a:r>
              <a:t>5 / 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1B3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28600"/>
            <a:ext cx="11430000" cy="822960"/>
          </a:xfrm>
          <a:prstGeom prst="rect">
            <a:avLst/>
          </a:prstGeom>
          <a:noFill/>
        </p:spPr>
        <p:txBody>
          <a:bodyPr wrap="none">
            <a:spAutoFit/>
          </a:bodyPr>
          <a:lstStyle/>
          <a:p>
            <a:pPr>
              <a:defRPr sz="2600" b="1">
                <a:solidFill>
                  <a:srgbClr val="1B3A2A"/>
                </a:solidFill>
              </a:defRPr>
            </a:pPr>
            <a:r>
              <a:t>Conclusion &amp; perspectives</a:t>
            </a:r>
          </a:p>
          <a:p>
            <a:pPr>
              <a:defRPr sz="1300" i="1">
                <a:solidFill>
                  <a:srgbClr val="D2691E"/>
                </a:solidFill>
              </a:defRPr>
            </a:pPr>
            <a:r>
              <a:t>Bloc 3 — Unsupervised ML / NLP</a:t>
            </a:r>
          </a:p>
        </p:txBody>
      </p:sp>
      <p:sp>
        <p:nvSpPr>
          <p:cNvPr id="5" name="TextBox 4"/>
          <p:cNvSpPr txBox="1"/>
          <p:nvPr/>
        </p:nvSpPr>
        <p:spPr>
          <a:xfrm>
            <a:off x="457200" y="1280160"/>
            <a:ext cx="5486400" cy="457200"/>
          </a:xfrm>
          <a:prstGeom prst="rect">
            <a:avLst/>
          </a:prstGeom>
          <a:noFill/>
        </p:spPr>
        <p:txBody>
          <a:bodyPr wrap="square">
            <a:spAutoFit/>
          </a:bodyPr>
          <a:lstStyle/>
          <a:p>
            <a:pPr>
              <a:spcAft>
                <a:spcPts val="400"/>
              </a:spcAft>
              <a:defRPr sz="2200" b="1">
                <a:solidFill>
                  <a:srgbClr val="D2691E"/>
                </a:solidFill>
              </a:defRPr>
            </a:pPr>
            <a:r>
              <a:t>Acquis du projet</a:t>
            </a:r>
          </a:p>
        </p:txBody>
      </p:sp>
      <p:sp>
        <p:nvSpPr>
          <p:cNvPr id="6" name="Rectangle 5"/>
          <p:cNvSpPr/>
          <p:nvPr/>
        </p:nvSpPr>
        <p:spPr>
          <a:xfrm>
            <a:off x="457200" y="1828800"/>
            <a:ext cx="5486400" cy="4114800"/>
          </a:xfrm>
          <a:prstGeom prst="rect">
            <a:avLst/>
          </a:prstGeom>
          <a:solidFill>
            <a:srgbClr val="FFFFFF"/>
          </a:solidFill>
          <a:ln w="19050">
            <a:solidFill>
              <a:srgbClr val="D2691E"/>
            </a:solidFill>
          </a:ln>
        </p:spPr>
        <p:style>
          <a:lnRef idx="1">
            <a:schemeClr val="accent1"/>
          </a:lnRef>
          <a:fillRef idx="3">
            <a:schemeClr val="accent1"/>
          </a:fillRef>
          <a:effectRef idx="2">
            <a:schemeClr val="accent1"/>
          </a:effectRef>
          <a:fontRef idx="minor">
            <a:schemeClr val="lt1"/>
          </a:fontRef>
        </p:style>
        <p:txBody>
          <a:bodyPr rtlCol="0" anchor="ctr" lIns="274320" tIns="182880"/>
          <a:lstStyle/>
          <a:p>
            <a:pPr algn="ctr">
              <a:spcBef>
                <a:spcPts val="500"/>
              </a:spcBef>
              <a:defRPr sz="1300">
                <a:solidFill>
                  <a:srgbClr val="1B3A2A"/>
                </a:solidFill>
              </a:defRPr>
            </a:pPr>
            <a:r>
              <a:t>✓  Pipeline NLP non-supervisé bout-en-bout</a:t>
            </a:r>
          </a:p>
          <a:p>
            <a:pPr>
              <a:spcBef>
                <a:spcPts val="500"/>
              </a:spcBef>
              <a:defRPr sz="1300">
                <a:solidFill>
                  <a:srgbClr val="1B3A2A"/>
                </a:solidFill>
              </a:defRPr>
            </a:pPr>
            <a:r>
              <a:t>✓  Lemmatisation + TF-IDF + DBSCAN cosine</a:t>
            </a:r>
          </a:p>
          <a:p>
            <a:pPr>
              <a:spcBef>
                <a:spcPts val="500"/>
              </a:spcBef>
              <a:defRPr sz="1300">
                <a:solidFill>
                  <a:srgbClr val="1B3A2A"/>
                </a:solidFill>
              </a:defRPr>
            </a:pPr>
            <a:r>
              <a:t>✓  Topic modeling par TruncatedSVD (LSA)</a:t>
            </a:r>
          </a:p>
          <a:p>
            <a:pPr>
              <a:spcBef>
                <a:spcPts val="500"/>
              </a:spcBef>
              <a:defRPr sz="1300">
                <a:solidFill>
                  <a:srgbClr val="1B3A2A"/>
                </a:solidFill>
              </a:defRPr>
            </a:pPr>
            <a:r>
              <a:t>✓  Choix metric='cosine' justifié pour du texte</a:t>
            </a:r>
          </a:p>
          <a:p>
            <a:pPr>
              <a:spcBef>
                <a:spcPts val="500"/>
              </a:spcBef>
              <a:defRPr sz="1300">
                <a:solidFill>
                  <a:srgbClr val="1B3A2A"/>
                </a:solidFill>
              </a:defRPr>
            </a:pPr>
            <a:r>
              <a:t>✓  Système de recommandation interactif</a:t>
            </a:r>
          </a:p>
          <a:p>
            <a:pPr>
              <a:spcBef>
                <a:spcPts val="500"/>
              </a:spcBef>
              <a:defRPr sz="1300">
                <a:solidFill>
                  <a:srgbClr val="1B3A2A"/>
                </a:solidFill>
              </a:defRPr>
            </a:pPr>
            <a:r>
              <a:t>✓  Wordclouds livrés par cluster et par topic</a:t>
            </a:r>
          </a:p>
        </p:txBody>
      </p:sp>
      <p:sp>
        <p:nvSpPr>
          <p:cNvPr id="7" name="TextBox 6"/>
          <p:cNvSpPr txBox="1"/>
          <p:nvPr/>
        </p:nvSpPr>
        <p:spPr>
          <a:xfrm>
            <a:off x="6400800" y="1280160"/>
            <a:ext cx="5486400" cy="457200"/>
          </a:xfrm>
          <a:prstGeom prst="rect">
            <a:avLst/>
          </a:prstGeom>
          <a:noFill/>
        </p:spPr>
        <p:txBody>
          <a:bodyPr wrap="square">
            <a:spAutoFit/>
          </a:bodyPr>
          <a:lstStyle/>
          <a:p>
            <a:pPr>
              <a:spcAft>
                <a:spcPts val="400"/>
              </a:spcAft>
              <a:defRPr sz="2200" b="1">
                <a:solidFill>
                  <a:srgbClr val="1B3A2A"/>
                </a:solidFill>
              </a:defRPr>
            </a:pPr>
            <a:r>
              <a:t>Pour aller en production</a:t>
            </a:r>
          </a:p>
        </p:txBody>
      </p:sp>
      <p:sp>
        <p:nvSpPr>
          <p:cNvPr id="8" name="Rectangle 7"/>
          <p:cNvSpPr/>
          <p:nvPr/>
        </p:nvSpPr>
        <p:spPr>
          <a:xfrm>
            <a:off x="6400800" y="1828800"/>
            <a:ext cx="5486400" cy="4114800"/>
          </a:xfrm>
          <a:prstGeom prst="rect">
            <a:avLst/>
          </a:prstGeom>
          <a:solidFill>
            <a:srgbClr val="FFFFFF"/>
          </a:solidFill>
          <a:ln w="19050">
            <a:solidFill>
              <a:srgbClr val="1B3A2A"/>
            </a:solidFill>
          </a:ln>
        </p:spPr>
        <p:style>
          <a:lnRef idx="1">
            <a:schemeClr val="accent1"/>
          </a:lnRef>
          <a:fillRef idx="3">
            <a:schemeClr val="accent1"/>
          </a:fillRef>
          <a:effectRef idx="2">
            <a:schemeClr val="accent1"/>
          </a:effectRef>
          <a:fontRef idx="minor">
            <a:schemeClr val="lt1"/>
          </a:fontRef>
        </p:style>
        <p:txBody>
          <a:bodyPr rtlCol="0" anchor="ctr" lIns="274320" tIns="182880"/>
          <a:lstStyle/>
          <a:p>
            <a:pPr algn="ctr">
              <a:spcBef>
                <a:spcPts val="500"/>
              </a:spcBef>
              <a:defRPr sz="1300">
                <a:solidFill>
                  <a:srgbClr val="1B3A2A"/>
                </a:solidFill>
              </a:defRPr>
            </a:pPr>
            <a:r>
              <a:t>→  Embeddings BERT / sentence-transformers (&gt;&gt;TF-IDF)</a:t>
            </a:r>
          </a:p>
          <a:p>
            <a:pPr>
              <a:spcBef>
                <a:spcPts val="500"/>
              </a:spcBef>
              <a:defRPr sz="1300">
                <a:solidFill>
                  <a:srgbClr val="1B3A2A"/>
                </a:solidFill>
              </a:defRPr>
            </a:pPr>
            <a:r>
              <a:t>→  LDA en alternative à LSA pour topics interprétables</a:t>
            </a:r>
          </a:p>
          <a:p>
            <a:pPr>
              <a:spcBef>
                <a:spcPts val="500"/>
              </a:spcBef>
              <a:defRPr sz="1300">
                <a:solidFill>
                  <a:srgbClr val="1B3A2A"/>
                </a:solidFill>
              </a:defRPr>
            </a:pPr>
            <a:r>
              <a:t>→  Hybride : content-based + collaborative filtering</a:t>
            </a:r>
          </a:p>
          <a:p>
            <a:pPr>
              <a:spcBef>
                <a:spcPts val="500"/>
              </a:spcBef>
              <a:defRPr sz="1300">
                <a:solidFill>
                  <a:srgbClr val="1B3A2A"/>
                </a:solidFill>
              </a:defRPr>
            </a:pPr>
            <a:r>
              <a:t>→  A/B test du nouveau menu site (10% trafic)</a:t>
            </a:r>
          </a:p>
          <a:p>
            <a:pPr>
              <a:spcBef>
                <a:spcPts val="500"/>
              </a:spcBef>
              <a:defRPr sz="1300">
                <a:solidFill>
                  <a:srgbClr val="1B3A2A"/>
                </a:solidFill>
              </a:defRPr>
            </a:pPr>
            <a:r>
              <a:t>→  Multilingue : étendre au site .fr / .de / .uk</a:t>
            </a:r>
          </a:p>
          <a:p>
            <a:pPr>
              <a:spcBef>
                <a:spcPts val="500"/>
              </a:spcBef>
              <a:defRPr sz="1300">
                <a:solidFill>
                  <a:srgbClr val="1B3A2A"/>
                </a:solidFill>
              </a:defRPr>
            </a:pPr>
            <a:r>
              <a:t>→  Re-clustering périodique sur nouveaux produits</a:t>
            </a:r>
          </a:p>
        </p:txBody>
      </p:sp>
      <p:sp>
        <p:nvSpPr>
          <p:cNvPr id="9" name="TextBox 8"/>
          <p:cNvSpPr txBox="1"/>
          <p:nvPr/>
        </p:nvSpPr>
        <p:spPr>
          <a:xfrm>
            <a:off x="457200" y="6126480"/>
            <a:ext cx="11430000" cy="457200"/>
          </a:xfrm>
          <a:prstGeom prst="rect">
            <a:avLst/>
          </a:prstGeom>
          <a:noFill/>
        </p:spPr>
        <p:txBody>
          <a:bodyPr wrap="none">
            <a:spAutoFit/>
          </a:bodyPr>
          <a:lstStyle/>
          <a:p>
            <a:pPr algn="ctr">
              <a:defRPr sz="1800" b="1">
                <a:solidFill>
                  <a:srgbClr val="D2691E"/>
                </a:solidFill>
              </a:defRPr>
            </a:pPr>
            <a:r>
              <a:t>Merci pour votre attention  —  questions ?</a:t>
            </a:r>
          </a:p>
        </p:txBody>
      </p:sp>
      <p:sp>
        <p:nvSpPr>
          <p:cNvPr id="10" name="TextBox 9"/>
          <p:cNvSpPr txBox="1"/>
          <p:nvPr/>
        </p:nvSpPr>
        <p:spPr>
          <a:xfrm>
            <a:off x="365760" y="6446520"/>
            <a:ext cx="11430000" cy="320040"/>
          </a:xfrm>
          <a:prstGeom prst="rect">
            <a:avLst/>
          </a:prstGeom>
          <a:noFill/>
        </p:spPr>
        <p:txBody>
          <a:bodyPr wrap="none">
            <a:spAutoFit/>
          </a:bodyPr>
          <a:lstStyle/>
          <a:p>
            <a:pPr>
              <a:defRPr sz="1000">
                <a:solidFill>
                  <a:srgbClr val="5D4E3A"/>
                </a:solidFill>
              </a:defRPr>
            </a:pPr>
            <a:r>
              <a:t>Aymeric Lahonde — CDSD Jedha 2026 — RNCP35288  ·  Bloc 3 The North Face</a:t>
            </a:r>
          </a:p>
        </p:txBody>
      </p:sp>
      <p:sp>
        <p:nvSpPr>
          <p:cNvPr id="11" name="TextBox 10"/>
          <p:cNvSpPr txBox="1"/>
          <p:nvPr/>
        </p:nvSpPr>
        <p:spPr>
          <a:xfrm>
            <a:off x="10972800" y="6446520"/>
            <a:ext cx="1097280" cy="320040"/>
          </a:xfrm>
          <a:prstGeom prst="rect">
            <a:avLst/>
          </a:prstGeom>
          <a:noFill/>
        </p:spPr>
        <p:txBody>
          <a:bodyPr wrap="none">
            <a:spAutoFit/>
          </a:bodyPr>
          <a:lstStyle/>
          <a:p>
            <a:pPr algn="r">
              <a:defRPr sz="1000" b="1">
                <a:solidFill>
                  <a:srgbClr val="D2691E"/>
                </a:solidFill>
              </a:defRPr>
            </a:pPr>
            <a:r>
              <a:t>6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E1B2E"/>
        </a:solidFill>
        <a:effectLst/>
      </p:bgPr>
    </p:bg>
    <p:spTree>
      <p:nvGrpSpPr>
        <p:cNvPr id="1" name=""/>
        <p:cNvGrpSpPr/>
        <p:nvPr/>
      </p:nvGrpSpPr>
      <p:grpSpPr/>
      <p:sp>
        <p:nvSpPr>
          <p:cNvPr id="2" name="TextBox 1"/>
          <p:cNvSpPr txBox="1"/>
          <p:nvPr/>
        </p:nvSpPr>
        <p:spPr>
          <a:xfrm>
            <a:off x="548640" y="548640"/>
            <a:ext cx="11094415" cy="914400"/>
          </a:xfrm>
          <a:prstGeom prst="rect">
            <a:avLst/>
          </a:prstGeom>
          <a:noFill/>
        </p:spPr>
        <p:txBody>
          <a:bodyPr wrap="none">
            <a:spAutoFit/>
          </a:bodyPr>
          <a:lstStyle/>
          <a:p>
            <a:r>
              <a:rPr sz="3400" b="1">
                <a:solidFill>
                  <a:srgbClr val="FFFFFF"/>
                </a:solidFill>
              </a:rPr>
              <a:t>🔗 Liens du projet</a:t>
            </a:r>
          </a:p>
        </p:txBody>
      </p:sp>
      <p:sp>
        <p:nvSpPr>
          <p:cNvPr id="3" name="TextBox 2"/>
          <p:cNvSpPr txBox="1"/>
          <p:nvPr/>
        </p:nvSpPr>
        <p:spPr>
          <a:xfrm>
            <a:off x="548640" y="1828800"/>
            <a:ext cx="11094415" cy="3200400"/>
          </a:xfrm>
          <a:prstGeom prst="rect">
            <a:avLst/>
          </a:prstGeom>
          <a:noFill/>
        </p:spPr>
        <p:txBody>
          <a:bodyPr wrap="square">
            <a:spAutoFit/>
          </a:bodyPr>
          <a:lstStyle/>
          <a:p>
            <a:pPr>
              <a:spcAft>
                <a:spcPts val="1000"/>
              </a:spcAft>
            </a:pPr>
            <a:r>
              <a:rPr sz="1800">
                <a:solidFill>
                  <a:srgbClr val="B8C4D4"/>
                </a:solidFill>
              </a:rPr>
              <a:t>Code (GitHub) : </a:t>
            </a:r>
            <a:r>
              <a:rPr sz="1800">
                <a:solidFill>
                  <a:srgbClr val="6CB6FF"/>
                </a:solidFill>
                <a:hlinkClick r:id="rId2"/>
              </a:rPr>
              <a:t>https://github.com/aymericlahonde-dotcom/cdsd-b3-north-face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